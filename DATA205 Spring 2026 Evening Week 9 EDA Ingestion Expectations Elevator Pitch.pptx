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3" r:id="rId1"/>
  </p:sldMasterIdLst>
  <p:notesMasterIdLst>
    <p:notesMasterId r:id="rId11"/>
  </p:notesMasterIdLst>
  <p:sldIdLst>
    <p:sldId id="256" r:id="rId2"/>
    <p:sldId id="277" r:id="rId3"/>
    <p:sldId id="292" r:id="rId4"/>
    <p:sldId id="293" r:id="rId5"/>
    <p:sldId id="257" r:id="rId6"/>
    <p:sldId id="291" r:id="rId7"/>
    <p:sldId id="259" r:id="rId8"/>
    <p:sldId id="260" r:id="rId9"/>
    <p:sldId id="290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5"/>
    <p:restoredTop sz="94648"/>
  </p:normalViewPr>
  <p:slideViewPr>
    <p:cSldViewPr snapToGrid="0">
      <p:cViewPr varScale="1">
        <p:scale>
          <a:sx n="79" d="100"/>
          <a:sy n="79" d="100"/>
        </p:scale>
        <p:origin x="46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2E805F-7AA6-4A96-92A5-6E5B36DE4EE1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15C63E-0459-491C-8FD1-033FA22DAB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9654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15C63E-0459-491C-8FD1-033FA22DABF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5820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15C63E-0459-491C-8FD1-033FA22DABF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4191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4/1/2026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85057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7534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2936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8632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23349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016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579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568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964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4/1/2026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2249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4/1/2026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70730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4/1/2026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092416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4/1/2026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42411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4/1/2026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04383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4/1/2026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39816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56069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9393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4/1/2026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978773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706" r:id="rId13"/>
    <p:sldLayoutId id="2147483707" r:id="rId14"/>
    <p:sldLayoutId id="2147483708" r:id="rId15"/>
    <p:sldLayoutId id="2147483709" r:id="rId16"/>
    <p:sldLayoutId id="2147483710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ED085-9E32-E4B5-3222-9AE7CECB5B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4800" dirty="0"/>
              <a:t>DATA 205 Week 9: </a:t>
            </a:r>
            <a:br>
              <a:rPr lang="en-US" sz="4800" dirty="0"/>
            </a:br>
            <a:r>
              <a:rPr lang="en-US" sz="4800" dirty="0"/>
              <a:t>Expectations for EDA and Data Ingestions; Elevator Pitches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B49B80-C61D-2D95-EE46-759B0FFEAE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Montgomery College</a:t>
            </a:r>
          </a:p>
          <a:p>
            <a:r>
              <a:rPr lang="en-US" sz="2000" dirty="0"/>
              <a:t>SPRING 2026 (evening)</a:t>
            </a:r>
          </a:p>
          <a:p>
            <a:r>
              <a:rPr lang="en-US" sz="2000" dirty="0"/>
              <a:t>Prof.  </a:t>
            </a:r>
            <a:r>
              <a:rPr lang="en-US" sz="2000" dirty="0" err="1"/>
              <a:t>perine</a:t>
            </a:r>
            <a:endParaRPr lang="en-US" sz="2000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79935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C7ED1-75F0-9B6B-2139-E0B33215F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604" y="354502"/>
            <a:ext cx="9905998" cy="1478570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Elevator Pitch – </a:t>
            </a:r>
            <a:r>
              <a:rPr lang="en-US" sz="4000" dirty="0" err="1"/>
              <a:t>DuE</a:t>
            </a:r>
            <a:r>
              <a:rPr lang="en-US" sz="4000" dirty="0"/>
              <a:t> April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DC4FE9-E2A3-E0C9-ABEE-59C00A9B643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351088" y="1665288"/>
            <a:ext cx="9840912" cy="4098925"/>
          </a:xfrm>
        </p:spPr>
        <p:txBody>
          <a:bodyPr anchor="t">
            <a:normAutofit/>
          </a:bodyPr>
          <a:lstStyle/>
          <a:p>
            <a:r>
              <a:rPr lang="en-US" sz="2800" dirty="0">
                <a:latin typeface="Aptos Display" panose="020B0004020202020204" pitchFamily="34" charset="0"/>
              </a:rPr>
              <a:t>Goal is to communicate key aspects of your project</a:t>
            </a:r>
          </a:p>
          <a:p>
            <a:pPr lvl="1"/>
            <a:r>
              <a:rPr lang="en-US" sz="2400" b="1" dirty="0">
                <a:latin typeface="Aptos Display" panose="020B0004020202020204" pitchFamily="34" charset="0"/>
              </a:rPr>
              <a:t>What (</a:t>
            </a:r>
            <a:r>
              <a:rPr lang="en-US" sz="2400" dirty="0">
                <a:latin typeface="Aptos Display" panose="020B0004020202020204" pitchFamily="34" charset="0"/>
              </a:rPr>
              <a:t>what</a:t>
            </a:r>
            <a:r>
              <a:rPr lang="en-US" sz="2400" b="1" dirty="0">
                <a:latin typeface="Aptos Display" panose="020B0004020202020204" pitchFamily="34" charset="0"/>
              </a:rPr>
              <a:t> </a:t>
            </a:r>
            <a:r>
              <a:rPr lang="en-US" sz="2400" dirty="0">
                <a:latin typeface="Aptos Display" panose="020B0004020202020204" pitchFamily="34" charset="0"/>
              </a:rPr>
              <a:t>goal or problem is being addressed)</a:t>
            </a:r>
          </a:p>
          <a:p>
            <a:pPr lvl="1"/>
            <a:r>
              <a:rPr lang="en-US" sz="2400" b="1" dirty="0">
                <a:latin typeface="Aptos Display" panose="020B0004020202020204" pitchFamily="34" charset="0"/>
              </a:rPr>
              <a:t>How </a:t>
            </a:r>
            <a:r>
              <a:rPr lang="en-US" sz="2400" dirty="0">
                <a:latin typeface="Aptos Display" panose="020B0004020202020204" pitchFamily="34" charset="0"/>
              </a:rPr>
              <a:t>(what general approach are you using)</a:t>
            </a:r>
            <a:endParaRPr lang="en-US" sz="2400" b="1" dirty="0">
              <a:latin typeface="Aptos Display" panose="020B0004020202020204" pitchFamily="34" charset="0"/>
            </a:endParaRPr>
          </a:p>
          <a:p>
            <a:pPr lvl="1"/>
            <a:r>
              <a:rPr lang="en-US" sz="2400" b="1" dirty="0">
                <a:latin typeface="Aptos Display" panose="020B0004020202020204" pitchFamily="34" charset="0"/>
              </a:rPr>
              <a:t>Why</a:t>
            </a:r>
            <a:r>
              <a:rPr lang="en-US" sz="2400" dirty="0">
                <a:latin typeface="Aptos Display" panose="020B0004020202020204" pitchFamily="34" charset="0"/>
              </a:rPr>
              <a:t> (why is it important? What is the value proposition?)</a:t>
            </a:r>
          </a:p>
          <a:p>
            <a:pPr lvl="1"/>
            <a:r>
              <a:rPr lang="en-US" sz="2400" b="1" dirty="0">
                <a:latin typeface="Aptos Display" panose="020B0004020202020204" pitchFamily="34" charset="0"/>
              </a:rPr>
              <a:t>Who (</a:t>
            </a:r>
            <a:r>
              <a:rPr lang="en-US" sz="2400" dirty="0">
                <a:latin typeface="Aptos Display" panose="020B0004020202020204" pitchFamily="34" charset="0"/>
              </a:rPr>
              <a:t>who cares about this?)</a:t>
            </a:r>
          </a:p>
          <a:p>
            <a:r>
              <a:rPr lang="en-US" sz="2800" dirty="0">
                <a:latin typeface="Aptos Display" panose="020B0004020202020204" pitchFamily="34" charset="0"/>
              </a:rPr>
              <a:t>Should take less than one minute</a:t>
            </a:r>
          </a:p>
          <a:p>
            <a:r>
              <a:rPr lang="en-US" sz="2800" dirty="0">
                <a:latin typeface="Aptos Display" panose="020B0004020202020204" pitchFamily="34" charset="0"/>
              </a:rPr>
              <a:t>Goal is NOT to communicate technical details</a:t>
            </a:r>
          </a:p>
        </p:txBody>
      </p:sp>
    </p:spTree>
    <p:extLst>
      <p:ext uri="{BB962C8B-B14F-4D97-AF65-F5344CB8AC3E}">
        <p14:creationId xmlns:p14="http://schemas.microsoft.com/office/powerpoint/2010/main" val="4252694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0D2B119-DF23-F57A-DC86-8793D7BEADCB}"/>
              </a:ext>
            </a:extLst>
          </p:cNvPr>
          <p:cNvSpPr txBox="1"/>
          <p:nvPr/>
        </p:nvSpPr>
        <p:spPr>
          <a:xfrm>
            <a:off x="900750" y="639742"/>
            <a:ext cx="11054687" cy="5578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u="sng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Example 1: Focus on Innovation and Problem Solving 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"Hi, I'm [Your Name], a [Year] at [University] working on a project called [Project Name]. We're addressing [Problem the project solves] by [Briefly explain your approach]. Our initial results show [Key findings or potential impact], and we're looking for feedback and potential collaborators to [Next steps or goals]." 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u="sng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Example 2: Emphasize Practical Application 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"My name is [Your Name], and I'm a [Year] at [University] developing [Project Name], a [Type of project, e.g., software, tool, study] to [Project's primary goal]. It's designed to [Explain how it solves a problem or improves a process] and could have a real impact on [Target audience or industry]. I'm eager to discuss how this project could be further developed and potentially implemented." </a:t>
            </a:r>
          </a:p>
        </p:txBody>
      </p:sp>
    </p:spTree>
    <p:extLst>
      <p:ext uri="{BB962C8B-B14F-4D97-AF65-F5344CB8AC3E}">
        <p14:creationId xmlns:p14="http://schemas.microsoft.com/office/powerpoint/2010/main" val="6603694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81FD4-DA2A-6CF7-AC88-7EA1C62B7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231" y="486709"/>
            <a:ext cx="9905998" cy="1478570"/>
          </a:xfrm>
        </p:spPr>
        <p:txBody>
          <a:bodyPr/>
          <a:lstStyle/>
          <a:p>
            <a:r>
              <a:rPr lang="en-US" dirty="0"/>
              <a:t>Follow the elevator pitch instructions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69EB2D-88AF-0561-C32F-012A1ECADB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965279"/>
            <a:ext cx="10296784" cy="4003344"/>
          </a:xfrm>
        </p:spPr>
        <p:txBody>
          <a:bodyPr/>
          <a:lstStyle/>
          <a:p>
            <a:r>
              <a:rPr lang="en-US" dirty="0">
                <a:latin typeface="Aptos Display" panose="020B0004020202020204" pitchFamily="34" charset="0"/>
              </a:rPr>
              <a:t>On time submission:  Friday April 3 at 11:59 p.m.</a:t>
            </a:r>
          </a:p>
          <a:p>
            <a:r>
              <a:rPr lang="en-US" dirty="0">
                <a:latin typeface="Aptos Display" panose="020B0004020202020204" pitchFamily="34" charset="0"/>
              </a:rPr>
              <a:t>Follow submission criteria:   upload to Teams, name of file</a:t>
            </a:r>
          </a:p>
          <a:p>
            <a:r>
              <a:rPr lang="en-US" dirty="0">
                <a:latin typeface="Aptos Display" panose="020B0004020202020204" pitchFamily="34" charset="0"/>
              </a:rPr>
              <a:t>Follow content criteria</a:t>
            </a:r>
          </a:p>
          <a:p>
            <a:r>
              <a:rPr lang="en-US" dirty="0">
                <a:latin typeface="Aptos Display" panose="020B0004020202020204" pitchFamily="34" charset="0"/>
              </a:rPr>
              <a:t>Good use of presentation skills</a:t>
            </a:r>
          </a:p>
          <a:p>
            <a:r>
              <a:rPr lang="en-US" dirty="0">
                <a:latin typeface="Aptos Display" panose="020B0004020202020204" pitchFamily="34" charset="0"/>
              </a:rPr>
              <a:t>Provide peer feedback:  deadline Tuesday April 7 at 11:59 p.m.</a:t>
            </a:r>
          </a:p>
          <a:p>
            <a:r>
              <a:rPr lang="en-US" dirty="0">
                <a:latin typeface="Aptos Display" panose="020B0004020202020204" pitchFamily="34" charset="0"/>
              </a:rPr>
              <a:t>Rubric is included with instructions</a:t>
            </a:r>
          </a:p>
        </p:txBody>
      </p:sp>
    </p:spTree>
    <p:extLst>
      <p:ext uri="{BB962C8B-B14F-4D97-AF65-F5344CB8AC3E}">
        <p14:creationId xmlns:p14="http://schemas.microsoft.com/office/powerpoint/2010/main" val="14907059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9B448F0-DA06-4165-AB5F-4330A20E0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-1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92D83638-A467-411A-9C31-FE9A111CD8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2576BCDF-119F-4EB5-83D7-ED823C93E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solidFill>
            <a:schemeClr val="tx2">
              <a:alpha val="45000"/>
            </a:schemeClr>
          </a:solidFill>
        </p:grpSpPr>
        <p:sp>
          <p:nvSpPr>
            <p:cNvPr id="13" name="Rectangle 5">
              <a:extLst>
                <a:ext uri="{FF2B5EF4-FFF2-40B4-BE49-F238E27FC236}">
                  <a16:creationId xmlns:a16="http://schemas.microsoft.com/office/drawing/2014/main" id="{43D63E8F-FD8A-4CE3-B7C9-3E9E2B66B5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D107D890-1831-46D8-90FB-F2FC0B2884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02440904-A4EC-4F72-8E22-AAF4D9DB5C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625E9C1F-1569-416B-A85C-FA14348722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3A186C77-43BF-4B1B-8170-48944F3057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FA8D72C1-8526-44B4-9333-5E0057ECC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790E4BA0-9C47-48B6-AA4A-8FC22DA954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2">
              <a:extLst>
                <a:ext uri="{FF2B5EF4-FFF2-40B4-BE49-F238E27FC236}">
                  <a16:creationId xmlns:a16="http://schemas.microsoft.com/office/drawing/2014/main" id="{FD051475-431F-4B9D-94C6-7B49A69582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3">
              <a:extLst>
                <a:ext uri="{FF2B5EF4-FFF2-40B4-BE49-F238E27FC236}">
                  <a16:creationId xmlns:a16="http://schemas.microsoft.com/office/drawing/2014/main" id="{82255D2F-85A1-4A19-8BC4-EB2715F36C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4">
              <a:extLst>
                <a:ext uri="{FF2B5EF4-FFF2-40B4-BE49-F238E27FC236}">
                  <a16:creationId xmlns:a16="http://schemas.microsoft.com/office/drawing/2014/main" id="{EBC3A004-9794-4EFA-83F0-989248797C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5">
              <a:extLst>
                <a:ext uri="{FF2B5EF4-FFF2-40B4-BE49-F238E27FC236}">
                  <a16:creationId xmlns:a16="http://schemas.microsoft.com/office/drawing/2014/main" id="{6EFD9FC3-E11A-44E3-BCAC-A07F3C601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Line 16">
              <a:extLst>
                <a:ext uri="{FF2B5EF4-FFF2-40B4-BE49-F238E27FC236}">
                  <a16:creationId xmlns:a16="http://schemas.microsoft.com/office/drawing/2014/main" id="{AB6AB6F7-6592-4028-B349-1C0E53A29C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7">
              <a:extLst>
                <a:ext uri="{FF2B5EF4-FFF2-40B4-BE49-F238E27FC236}">
                  <a16:creationId xmlns:a16="http://schemas.microsoft.com/office/drawing/2014/main" id="{6C2415E6-F914-4C11-B48B-4910AA6CA6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8">
              <a:extLst>
                <a:ext uri="{FF2B5EF4-FFF2-40B4-BE49-F238E27FC236}">
                  <a16:creationId xmlns:a16="http://schemas.microsoft.com/office/drawing/2014/main" id="{2412013C-072A-489E-851A-CFEF91A9A6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9">
              <a:extLst>
                <a:ext uri="{FF2B5EF4-FFF2-40B4-BE49-F238E27FC236}">
                  <a16:creationId xmlns:a16="http://schemas.microsoft.com/office/drawing/2014/main" id="{DE93DF9F-296F-4DE4-8813-D8C04DE4CF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0">
              <a:extLst>
                <a:ext uri="{FF2B5EF4-FFF2-40B4-BE49-F238E27FC236}">
                  <a16:creationId xmlns:a16="http://schemas.microsoft.com/office/drawing/2014/main" id="{F440D966-5030-460C-9916-BF9B915421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Rectangle 21">
              <a:extLst>
                <a:ext uri="{FF2B5EF4-FFF2-40B4-BE49-F238E27FC236}">
                  <a16:creationId xmlns:a16="http://schemas.microsoft.com/office/drawing/2014/main" id="{1EFE245D-BA05-4F4D-A6E8-40739F48E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2">
              <a:extLst>
                <a:ext uri="{FF2B5EF4-FFF2-40B4-BE49-F238E27FC236}">
                  <a16:creationId xmlns:a16="http://schemas.microsoft.com/office/drawing/2014/main" id="{ED67811C-F735-441C-98A6-2517EC099A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3">
              <a:extLst>
                <a:ext uri="{FF2B5EF4-FFF2-40B4-BE49-F238E27FC236}">
                  <a16:creationId xmlns:a16="http://schemas.microsoft.com/office/drawing/2014/main" id="{3070FC44-32F9-470F-A131-868F3F1DB7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4">
              <a:extLst>
                <a:ext uri="{FF2B5EF4-FFF2-40B4-BE49-F238E27FC236}">
                  <a16:creationId xmlns:a16="http://schemas.microsoft.com/office/drawing/2014/main" id="{95FB52C7-C779-4E3F-978C-4595FEF868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5">
              <a:extLst>
                <a:ext uri="{FF2B5EF4-FFF2-40B4-BE49-F238E27FC236}">
                  <a16:creationId xmlns:a16="http://schemas.microsoft.com/office/drawing/2014/main" id="{D4EB1759-62AC-4B24-9DC6-E4F8737E89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6">
              <a:extLst>
                <a:ext uri="{FF2B5EF4-FFF2-40B4-BE49-F238E27FC236}">
                  <a16:creationId xmlns:a16="http://schemas.microsoft.com/office/drawing/2014/main" id="{7BF6FB39-864B-4F58-86E8-790E16FB3C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7">
              <a:extLst>
                <a:ext uri="{FF2B5EF4-FFF2-40B4-BE49-F238E27FC236}">
                  <a16:creationId xmlns:a16="http://schemas.microsoft.com/office/drawing/2014/main" id="{5FE4FA46-B51C-43DA-87FC-2644ED117A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28">
              <a:extLst>
                <a:ext uri="{FF2B5EF4-FFF2-40B4-BE49-F238E27FC236}">
                  <a16:creationId xmlns:a16="http://schemas.microsoft.com/office/drawing/2014/main" id="{25DD1322-2D3A-4E7B-B23B-B4F96E02C2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29">
              <a:extLst>
                <a:ext uri="{FF2B5EF4-FFF2-40B4-BE49-F238E27FC236}">
                  <a16:creationId xmlns:a16="http://schemas.microsoft.com/office/drawing/2014/main" id="{6E4FFBEB-52BB-494D-AD99-A0F072AB6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0">
              <a:extLst>
                <a:ext uri="{FF2B5EF4-FFF2-40B4-BE49-F238E27FC236}">
                  <a16:creationId xmlns:a16="http://schemas.microsoft.com/office/drawing/2014/main" id="{7DE92406-3F65-4333-BAAA-A9A7B5AEE9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1">
              <a:extLst>
                <a:ext uri="{FF2B5EF4-FFF2-40B4-BE49-F238E27FC236}">
                  <a16:creationId xmlns:a16="http://schemas.microsoft.com/office/drawing/2014/main" id="{B8B0FFC4-D1BB-4BB9-A224-BB78BFD3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565B25B-A9DA-5BA5-D534-EB41CF76F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781" y="23283"/>
            <a:ext cx="9906000" cy="1117073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Data Ingestion Expectations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B0DB2F-156A-42C4-E034-B9E0B4B300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5265" y="1066006"/>
            <a:ext cx="10225560" cy="4061620"/>
          </a:xfrm>
        </p:spPr>
        <p:txBody>
          <a:bodyPr anchor="t">
            <a:noAutofit/>
          </a:bodyPr>
          <a:lstStyle/>
          <a:p>
            <a:r>
              <a:rPr lang="en-US" sz="2800" dirty="0">
                <a:latin typeface="Aptos Display" panose="020B0004020202020204" pitchFamily="34" charset="0"/>
              </a:rPr>
              <a:t>Purpose:</a:t>
            </a:r>
          </a:p>
          <a:p>
            <a:pPr lvl="1"/>
            <a:r>
              <a:rPr lang="en-US" sz="2400" dirty="0">
                <a:latin typeface="Aptos Display" panose="020B0004020202020204" pitchFamily="34" charset="0"/>
              </a:rPr>
              <a:t>Read in your data so you can access it with your coding language(s)/software</a:t>
            </a:r>
          </a:p>
          <a:p>
            <a:pPr lvl="2"/>
            <a:r>
              <a:rPr lang="en-US" sz="2400" dirty="0">
                <a:latin typeface="Aptos Display" panose="020B0004020202020204" pitchFamily="34" charset="0"/>
              </a:rPr>
              <a:t>Python, R, SQL, Power BI, </a:t>
            </a:r>
          </a:p>
          <a:p>
            <a:pPr lvl="1"/>
            <a:r>
              <a:rPr lang="en-US" sz="2400" dirty="0">
                <a:latin typeface="Aptos Display" panose="020B0004020202020204" pitchFamily="34" charset="0"/>
              </a:rPr>
              <a:t>Clean and process your data so it is ready for analysis</a:t>
            </a:r>
          </a:p>
          <a:p>
            <a:r>
              <a:rPr lang="en-US" sz="2800" dirty="0">
                <a:latin typeface="Aptos Display" panose="020B0004020202020204" pitchFamily="34" charset="0"/>
              </a:rPr>
              <a:t>Ingestion:</a:t>
            </a:r>
          </a:p>
          <a:p>
            <a:pPr lvl="1"/>
            <a:r>
              <a:rPr lang="en-US" sz="2400" dirty="0">
                <a:latin typeface="Aptos Display" panose="020B0004020202020204" pitchFamily="34" charset="0"/>
              </a:rPr>
              <a:t>Decide whether to work with live or static data</a:t>
            </a:r>
          </a:p>
          <a:p>
            <a:pPr lvl="2"/>
            <a:r>
              <a:rPr lang="en-US" sz="2400" dirty="0">
                <a:latin typeface="Aptos Display" panose="020B0004020202020204" pitchFamily="34" charset="0"/>
              </a:rPr>
              <a:t>Live data: read data in from source (e.g., API) </a:t>
            </a:r>
          </a:p>
          <a:p>
            <a:pPr lvl="2"/>
            <a:r>
              <a:rPr lang="en-US" sz="2400" dirty="0">
                <a:latin typeface="Aptos Display" panose="020B0004020202020204" pitchFamily="34" charset="0"/>
              </a:rPr>
              <a:t>Static data: download a file (e.g., a CSV) and read data in from that file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8DB4BB99-C854-45F9-BED1-63D15E3A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64912" y="0"/>
            <a:ext cx="674688" cy="6848476"/>
            <a:chOff x="11364912" y="0"/>
            <a:chExt cx="674688" cy="6848476"/>
          </a:xfrm>
          <a:solidFill>
            <a:schemeClr val="tx2">
              <a:alpha val="45000"/>
            </a:schemeClr>
          </a:solidFill>
        </p:grpSpPr>
        <p:sp>
          <p:nvSpPr>
            <p:cNvPr id="42" name="Freeform 32">
              <a:extLst>
                <a:ext uri="{FF2B5EF4-FFF2-40B4-BE49-F238E27FC236}">
                  <a16:creationId xmlns:a16="http://schemas.microsoft.com/office/drawing/2014/main" id="{5D1CCC4C-284C-4BF6-97D9-D974674634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3">
              <a:extLst>
                <a:ext uri="{FF2B5EF4-FFF2-40B4-BE49-F238E27FC236}">
                  <a16:creationId xmlns:a16="http://schemas.microsoft.com/office/drawing/2014/main" id="{35D82D1B-EB09-4028-9107-D60B547C7B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4">
              <a:extLst>
                <a:ext uri="{FF2B5EF4-FFF2-40B4-BE49-F238E27FC236}">
                  <a16:creationId xmlns:a16="http://schemas.microsoft.com/office/drawing/2014/main" id="{1389EE93-8059-437E-8507-7557AD68FB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5">
              <a:extLst>
                <a:ext uri="{FF2B5EF4-FFF2-40B4-BE49-F238E27FC236}">
                  <a16:creationId xmlns:a16="http://schemas.microsoft.com/office/drawing/2014/main" id="{377C05DC-75FF-4426-A34F-DBF0C7E7BE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36">
              <a:extLst>
                <a:ext uri="{FF2B5EF4-FFF2-40B4-BE49-F238E27FC236}">
                  <a16:creationId xmlns:a16="http://schemas.microsoft.com/office/drawing/2014/main" id="{03D385C8-866D-437D-91B1-2E3ECDD88E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37">
              <a:extLst>
                <a:ext uri="{FF2B5EF4-FFF2-40B4-BE49-F238E27FC236}">
                  <a16:creationId xmlns:a16="http://schemas.microsoft.com/office/drawing/2014/main" id="{3F649CBB-748F-4C79-A14F-C531C40B08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38">
              <a:extLst>
                <a:ext uri="{FF2B5EF4-FFF2-40B4-BE49-F238E27FC236}">
                  <a16:creationId xmlns:a16="http://schemas.microsoft.com/office/drawing/2014/main" id="{7F4622C0-84AF-41F1-9128-FE73CADD36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39">
              <a:extLst>
                <a:ext uri="{FF2B5EF4-FFF2-40B4-BE49-F238E27FC236}">
                  <a16:creationId xmlns:a16="http://schemas.microsoft.com/office/drawing/2014/main" id="{CC6F29C1-A471-4CDE-8C21-E4B15C5EF4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0">
              <a:extLst>
                <a:ext uri="{FF2B5EF4-FFF2-40B4-BE49-F238E27FC236}">
                  <a16:creationId xmlns:a16="http://schemas.microsoft.com/office/drawing/2014/main" id="{67F5B7DA-86C7-4AE0-96B6-D7F5AA51E2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Rectangle 41">
              <a:extLst>
                <a:ext uri="{FF2B5EF4-FFF2-40B4-BE49-F238E27FC236}">
                  <a16:creationId xmlns:a16="http://schemas.microsoft.com/office/drawing/2014/main" id="{0FA481E3-0439-484A-AC9B-19D58B98E4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113336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F8A78-D145-E3A5-962F-3C7BBDCFC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D73A24F-28D0-C3FE-E03A-D611BBCA9A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-1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1DC32991-0336-C9B3-8C55-E3108DEE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50120ADC-DB37-C765-582E-36F287665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solidFill>
            <a:schemeClr val="tx2">
              <a:alpha val="45000"/>
            </a:schemeClr>
          </a:solidFill>
        </p:grpSpPr>
        <p:sp>
          <p:nvSpPr>
            <p:cNvPr id="13" name="Rectangle 5">
              <a:extLst>
                <a:ext uri="{FF2B5EF4-FFF2-40B4-BE49-F238E27FC236}">
                  <a16:creationId xmlns:a16="http://schemas.microsoft.com/office/drawing/2014/main" id="{CF1C4427-3C92-484D-C62B-DF92ECC16D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72B99C93-805F-1540-A957-49C9B3FA2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8C8A10CC-5859-F86F-5BF8-830CBD831B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41E8A958-DF57-56C5-8CE3-AF1DFCF968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90EC3A1F-0620-620D-8DA2-3C03D73F2D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3C0200AF-E3A5-A586-04B9-1E4D5BB6D9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6AFAEC19-FD09-1CD1-259B-F4F5781A32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2">
              <a:extLst>
                <a:ext uri="{FF2B5EF4-FFF2-40B4-BE49-F238E27FC236}">
                  <a16:creationId xmlns:a16="http://schemas.microsoft.com/office/drawing/2014/main" id="{C70467E5-76DC-A566-3A5A-F5ED292519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3">
              <a:extLst>
                <a:ext uri="{FF2B5EF4-FFF2-40B4-BE49-F238E27FC236}">
                  <a16:creationId xmlns:a16="http://schemas.microsoft.com/office/drawing/2014/main" id="{CF0FC4E9-133D-4577-E65F-8C102B6980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4">
              <a:extLst>
                <a:ext uri="{FF2B5EF4-FFF2-40B4-BE49-F238E27FC236}">
                  <a16:creationId xmlns:a16="http://schemas.microsoft.com/office/drawing/2014/main" id="{A2F550E4-91D0-9086-C9AE-DA15983CCE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5">
              <a:extLst>
                <a:ext uri="{FF2B5EF4-FFF2-40B4-BE49-F238E27FC236}">
                  <a16:creationId xmlns:a16="http://schemas.microsoft.com/office/drawing/2014/main" id="{AFC03F3E-5D6D-5283-B387-E2F5F2E511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Line 16">
              <a:extLst>
                <a:ext uri="{FF2B5EF4-FFF2-40B4-BE49-F238E27FC236}">
                  <a16:creationId xmlns:a16="http://schemas.microsoft.com/office/drawing/2014/main" id="{6C1C584C-DC71-B801-54D4-B51AE94B37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7">
              <a:extLst>
                <a:ext uri="{FF2B5EF4-FFF2-40B4-BE49-F238E27FC236}">
                  <a16:creationId xmlns:a16="http://schemas.microsoft.com/office/drawing/2014/main" id="{5167E93C-4B2B-D967-4310-434A7FD455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8">
              <a:extLst>
                <a:ext uri="{FF2B5EF4-FFF2-40B4-BE49-F238E27FC236}">
                  <a16:creationId xmlns:a16="http://schemas.microsoft.com/office/drawing/2014/main" id="{F83F3A24-7E6C-5D59-0C59-23718B9C3F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9">
              <a:extLst>
                <a:ext uri="{FF2B5EF4-FFF2-40B4-BE49-F238E27FC236}">
                  <a16:creationId xmlns:a16="http://schemas.microsoft.com/office/drawing/2014/main" id="{B31D7FBB-977B-46C4-036E-3A4C278F25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0">
              <a:extLst>
                <a:ext uri="{FF2B5EF4-FFF2-40B4-BE49-F238E27FC236}">
                  <a16:creationId xmlns:a16="http://schemas.microsoft.com/office/drawing/2014/main" id="{5D3A4626-2EEB-FE7A-D7C0-205E298220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Rectangle 21">
              <a:extLst>
                <a:ext uri="{FF2B5EF4-FFF2-40B4-BE49-F238E27FC236}">
                  <a16:creationId xmlns:a16="http://schemas.microsoft.com/office/drawing/2014/main" id="{425780E6-5705-B379-5CEB-F68E70E1A5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2">
              <a:extLst>
                <a:ext uri="{FF2B5EF4-FFF2-40B4-BE49-F238E27FC236}">
                  <a16:creationId xmlns:a16="http://schemas.microsoft.com/office/drawing/2014/main" id="{CB2F212C-8C77-41C7-5ACF-BF98259CFD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3">
              <a:extLst>
                <a:ext uri="{FF2B5EF4-FFF2-40B4-BE49-F238E27FC236}">
                  <a16:creationId xmlns:a16="http://schemas.microsoft.com/office/drawing/2014/main" id="{6CC362AA-4391-F77E-8E66-05421F27F9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4">
              <a:extLst>
                <a:ext uri="{FF2B5EF4-FFF2-40B4-BE49-F238E27FC236}">
                  <a16:creationId xmlns:a16="http://schemas.microsoft.com/office/drawing/2014/main" id="{8EB78113-AF10-9067-AB6A-84841BAED0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5">
              <a:extLst>
                <a:ext uri="{FF2B5EF4-FFF2-40B4-BE49-F238E27FC236}">
                  <a16:creationId xmlns:a16="http://schemas.microsoft.com/office/drawing/2014/main" id="{8EFE188D-B6B3-B4AC-4298-20608E54F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6">
              <a:extLst>
                <a:ext uri="{FF2B5EF4-FFF2-40B4-BE49-F238E27FC236}">
                  <a16:creationId xmlns:a16="http://schemas.microsoft.com/office/drawing/2014/main" id="{14EED846-F69C-1175-F259-CB2154A98F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7">
              <a:extLst>
                <a:ext uri="{FF2B5EF4-FFF2-40B4-BE49-F238E27FC236}">
                  <a16:creationId xmlns:a16="http://schemas.microsoft.com/office/drawing/2014/main" id="{4109973A-8889-E727-5E5A-9E04CE13A4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28">
              <a:extLst>
                <a:ext uri="{FF2B5EF4-FFF2-40B4-BE49-F238E27FC236}">
                  <a16:creationId xmlns:a16="http://schemas.microsoft.com/office/drawing/2014/main" id="{E77FD3A3-F4E9-4130-46ED-74875BB5A7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29">
              <a:extLst>
                <a:ext uri="{FF2B5EF4-FFF2-40B4-BE49-F238E27FC236}">
                  <a16:creationId xmlns:a16="http://schemas.microsoft.com/office/drawing/2014/main" id="{DC0AB368-2BDE-B190-E04A-600D153D34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0">
              <a:extLst>
                <a:ext uri="{FF2B5EF4-FFF2-40B4-BE49-F238E27FC236}">
                  <a16:creationId xmlns:a16="http://schemas.microsoft.com/office/drawing/2014/main" id="{D1DF8729-8D88-5A26-7008-3CC7B45641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1">
              <a:extLst>
                <a:ext uri="{FF2B5EF4-FFF2-40B4-BE49-F238E27FC236}">
                  <a16:creationId xmlns:a16="http://schemas.microsoft.com/office/drawing/2014/main" id="{7ED3F3F3-0935-72B2-5FE5-0EE8FB14A6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7430787-0F34-9558-47A4-88DD6DFFA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781" y="23283"/>
            <a:ext cx="9906000" cy="1117073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Data Ingestion Expectations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5B02F0-6E2A-7A41-F69F-24D0C8C2F2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5265" y="1066006"/>
            <a:ext cx="10225560" cy="3541714"/>
          </a:xfrm>
        </p:spPr>
        <p:txBody>
          <a:bodyPr anchor="t">
            <a:noAutofit/>
          </a:bodyPr>
          <a:lstStyle/>
          <a:p>
            <a:r>
              <a:rPr lang="en-US" sz="2800" dirty="0">
                <a:latin typeface="Aptos Display" panose="020B0004020202020204" pitchFamily="34" charset="0"/>
              </a:rPr>
              <a:t>Cleaning:</a:t>
            </a:r>
          </a:p>
          <a:p>
            <a:pPr lvl="1"/>
            <a:r>
              <a:rPr lang="en-US" sz="2400" dirty="0">
                <a:latin typeface="Aptos Display" panose="020B0004020202020204" pitchFamily="34" charset="0"/>
              </a:rPr>
              <a:t>Process text columns to deal with typos and multiple spellings</a:t>
            </a:r>
          </a:p>
          <a:p>
            <a:pPr lvl="1"/>
            <a:r>
              <a:rPr lang="en-US" sz="2400" dirty="0">
                <a:latin typeface="Aptos Display" panose="020B0004020202020204" pitchFamily="34" charset="0"/>
              </a:rPr>
              <a:t>Assign consistent notation to missing values (may be different for text and numeric columns) </a:t>
            </a:r>
          </a:p>
          <a:p>
            <a:pPr lvl="1"/>
            <a:r>
              <a:rPr lang="en-US" sz="2400" dirty="0">
                <a:latin typeface="Aptos Display" panose="020B0004020202020204" pitchFamily="34" charset="0"/>
              </a:rPr>
              <a:t>Set data types as needed</a:t>
            </a:r>
          </a:p>
          <a:p>
            <a:pPr lvl="1"/>
            <a:r>
              <a:rPr lang="en-US" sz="2400" dirty="0">
                <a:latin typeface="Aptos Display" panose="020B0004020202020204" pitchFamily="34" charset="0"/>
              </a:rPr>
              <a:t>Convert date and time variables to appropriate formats</a:t>
            </a:r>
          </a:p>
          <a:p>
            <a:pPr lvl="1"/>
            <a:r>
              <a:rPr lang="en-US" sz="2400" dirty="0">
                <a:latin typeface="Aptos Display" panose="020B0004020202020204" pitchFamily="34" charset="0"/>
              </a:rPr>
              <a:t>Split or merge columns as needed (e.g., one-hot-encode columns)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9201B9FE-D8C3-0CE4-23F6-FEC94A5958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64912" y="0"/>
            <a:ext cx="674688" cy="6848476"/>
            <a:chOff x="11364912" y="0"/>
            <a:chExt cx="674688" cy="6848476"/>
          </a:xfrm>
          <a:solidFill>
            <a:schemeClr val="tx2">
              <a:alpha val="45000"/>
            </a:schemeClr>
          </a:solidFill>
        </p:grpSpPr>
        <p:sp>
          <p:nvSpPr>
            <p:cNvPr id="42" name="Freeform 32">
              <a:extLst>
                <a:ext uri="{FF2B5EF4-FFF2-40B4-BE49-F238E27FC236}">
                  <a16:creationId xmlns:a16="http://schemas.microsoft.com/office/drawing/2014/main" id="{EE6A3775-A146-A787-5C4A-DF1FA704C6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3">
              <a:extLst>
                <a:ext uri="{FF2B5EF4-FFF2-40B4-BE49-F238E27FC236}">
                  <a16:creationId xmlns:a16="http://schemas.microsoft.com/office/drawing/2014/main" id="{CAEEB604-4E2C-E2B3-A91E-1FC4B3B2F6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4">
              <a:extLst>
                <a:ext uri="{FF2B5EF4-FFF2-40B4-BE49-F238E27FC236}">
                  <a16:creationId xmlns:a16="http://schemas.microsoft.com/office/drawing/2014/main" id="{AD0A7A0B-46E9-B713-6AE4-898E7767C0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5">
              <a:extLst>
                <a:ext uri="{FF2B5EF4-FFF2-40B4-BE49-F238E27FC236}">
                  <a16:creationId xmlns:a16="http://schemas.microsoft.com/office/drawing/2014/main" id="{C77B9861-5D95-5592-2843-DD9B0B153C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36">
              <a:extLst>
                <a:ext uri="{FF2B5EF4-FFF2-40B4-BE49-F238E27FC236}">
                  <a16:creationId xmlns:a16="http://schemas.microsoft.com/office/drawing/2014/main" id="{1C4904D1-D4EE-CCAE-EDA4-A12EF16860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37">
              <a:extLst>
                <a:ext uri="{FF2B5EF4-FFF2-40B4-BE49-F238E27FC236}">
                  <a16:creationId xmlns:a16="http://schemas.microsoft.com/office/drawing/2014/main" id="{C6FEA798-1C0B-0F0D-7E9B-41476E35C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38">
              <a:extLst>
                <a:ext uri="{FF2B5EF4-FFF2-40B4-BE49-F238E27FC236}">
                  <a16:creationId xmlns:a16="http://schemas.microsoft.com/office/drawing/2014/main" id="{9C51715C-6667-A375-0D3C-9237B4EFE9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39">
              <a:extLst>
                <a:ext uri="{FF2B5EF4-FFF2-40B4-BE49-F238E27FC236}">
                  <a16:creationId xmlns:a16="http://schemas.microsoft.com/office/drawing/2014/main" id="{0B59793D-D8BF-9625-6A0A-754D03C13E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0">
              <a:extLst>
                <a:ext uri="{FF2B5EF4-FFF2-40B4-BE49-F238E27FC236}">
                  <a16:creationId xmlns:a16="http://schemas.microsoft.com/office/drawing/2014/main" id="{35CEFD89-C87C-4C31-0CAA-CBD16C11BB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Rectangle 41">
              <a:extLst>
                <a:ext uri="{FF2B5EF4-FFF2-40B4-BE49-F238E27FC236}">
                  <a16:creationId xmlns:a16="http://schemas.microsoft.com/office/drawing/2014/main" id="{0BB45744-A4D8-0A51-0151-30849181F6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597883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9B448F0-DA06-4165-AB5F-4330A20E0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-1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92D83638-A467-411A-9C31-FE9A111CD8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2576BCDF-119F-4EB5-83D7-ED823C93E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solidFill>
            <a:schemeClr val="tx2">
              <a:alpha val="45000"/>
            </a:schemeClr>
          </a:solidFill>
        </p:grpSpPr>
        <p:sp>
          <p:nvSpPr>
            <p:cNvPr id="13" name="Rectangle 5">
              <a:extLst>
                <a:ext uri="{FF2B5EF4-FFF2-40B4-BE49-F238E27FC236}">
                  <a16:creationId xmlns:a16="http://schemas.microsoft.com/office/drawing/2014/main" id="{43D63E8F-FD8A-4CE3-B7C9-3E9E2B66B5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D107D890-1831-46D8-90FB-F2FC0B2884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02440904-A4EC-4F72-8E22-AAF4D9DB5C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625E9C1F-1569-416B-A85C-FA14348722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3A186C77-43BF-4B1B-8170-48944F3057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FA8D72C1-8526-44B4-9333-5E0057ECC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790E4BA0-9C47-48B6-AA4A-8FC22DA954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2">
              <a:extLst>
                <a:ext uri="{FF2B5EF4-FFF2-40B4-BE49-F238E27FC236}">
                  <a16:creationId xmlns:a16="http://schemas.microsoft.com/office/drawing/2014/main" id="{FD051475-431F-4B9D-94C6-7B49A69582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3">
              <a:extLst>
                <a:ext uri="{FF2B5EF4-FFF2-40B4-BE49-F238E27FC236}">
                  <a16:creationId xmlns:a16="http://schemas.microsoft.com/office/drawing/2014/main" id="{82255D2F-85A1-4A19-8BC4-EB2715F36C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4">
              <a:extLst>
                <a:ext uri="{FF2B5EF4-FFF2-40B4-BE49-F238E27FC236}">
                  <a16:creationId xmlns:a16="http://schemas.microsoft.com/office/drawing/2014/main" id="{EBC3A004-9794-4EFA-83F0-989248797C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5">
              <a:extLst>
                <a:ext uri="{FF2B5EF4-FFF2-40B4-BE49-F238E27FC236}">
                  <a16:creationId xmlns:a16="http://schemas.microsoft.com/office/drawing/2014/main" id="{6EFD9FC3-E11A-44E3-BCAC-A07F3C601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Line 16">
              <a:extLst>
                <a:ext uri="{FF2B5EF4-FFF2-40B4-BE49-F238E27FC236}">
                  <a16:creationId xmlns:a16="http://schemas.microsoft.com/office/drawing/2014/main" id="{AB6AB6F7-6592-4028-B349-1C0E53A29C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7">
              <a:extLst>
                <a:ext uri="{FF2B5EF4-FFF2-40B4-BE49-F238E27FC236}">
                  <a16:creationId xmlns:a16="http://schemas.microsoft.com/office/drawing/2014/main" id="{6C2415E6-F914-4C11-B48B-4910AA6CA6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8">
              <a:extLst>
                <a:ext uri="{FF2B5EF4-FFF2-40B4-BE49-F238E27FC236}">
                  <a16:creationId xmlns:a16="http://schemas.microsoft.com/office/drawing/2014/main" id="{2412013C-072A-489E-851A-CFEF91A9A6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9">
              <a:extLst>
                <a:ext uri="{FF2B5EF4-FFF2-40B4-BE49-F238E27FC236}">
                  <a16:creationId xmlns:a16="http://schemas.microsoft.com/office/drawing/2014/main" id="{DE93DF9F-296F-4DE4-8813-D8C04DE4CF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0">
              <a:extLst>
                <a:ext uri="{FF2B5EF4-FFF2-40B4-BE49-F238E27FC236}">
                  <a16:creationId xmlns:a16="http://schemas.microsoft.com/office/drawing/2014/main" id="{F440D966-5030-460C-9916-BF9B915421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Rectangle 21">
              <a:extLst>
                <a:ext uri="{FF2B5EF4-FFF2-40B4-BE49-F238E27FC236}">
                  <a16:creationId xmlns:a16="http://schemas.microsoft.com/office/drawing/2014/main" id="{1EFE245D-BA05-4F4D-A6E8-40739F48E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2">
              <a:extLst>
                <a:ext uri="{FF2B5EF4-FFF2-40B4-BE49-F238E27FC236}">
                  <a16:creationId xmlns:a16="http://schemas.microsoft.com/office/drawing/2014/main" id="{ED67811C-F735-441C-98A6-2517EC099A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3">
              <a:extLst>
                <a:ext uri="{FF2B5EF4-FFF2-40B4-BE49-F238E27FC236}">
                  <a16:creationId xmlns:a16="http://schemas.microsoft.com/office/drawing/2014/main" id="{3070FC44-32F9-470F-A131-868F3F1DB7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4">
              <a:extLst>
                <a:ext uri="{FF2B5EF4-FFF2-40B4-BE49-F238E27FC236}">
                  <a16:creationId xmlns:a16="http://schemas.microsoft.com/office/drawing/2014/main" id="{95FB52C7-C779-4E3F-978C-4595FEF868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5">
              <a:extLst>
                <a:ext uri="{FF2B5EF4-FFF2-40B4-BE49-F238E27FC236}">
                  <a16:creationId xmlns:a16="http://schemas.microsoft.com/office/drawing/2014/main" id="{D4EB1759-62AC-4B24-9DC6-E4F8737E89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6">
              <a:extLst>
                <a:ext uri="{FF2B5EF4-FFF2-40B4-BE49-F238E27FC236}">
                  <a16:creationId xmlns:a16="http://schemas.microsoft.com/office/drawing/2014/main" id="{7BF6FB39-864B-4F58-86E8-790E16FB3C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7">
              <a:extLst>
                <a:ext uri="{FF2B5EF4-FFF2-40B4-BE49-F238E27FC236}">
                  <a16:creationId xmlns:a16="http://schemas.microsoft.com/office/drawing/2014/main" id="{5FE4FA46-B51C-43DA-87FC-2644ED117A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28">
              <a:extLst>
                <a:ext uri="{FF2B5EF4-FFF2-40B4-BE49-F238E27FC236}">
                  <a16:creationId xmlns:a16="http://schemas.microsoft.com/office/drawing/2014/main" id="{25DD1322-2D3A-4E7B-B23B-B4F96E02C2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29">
              <a:extLst>
                <a:ext uri="{FF2B5EF4-FFF2-40B4-BE49-F238E27FC236}">
                  <a16:creationId xmlns:a16="http://schemas.microsoft.com/office/drawing/2014/main" id="{6E4FFBEB-52BB-494D-AD99-A0F072AB6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0">
              <a:extLst>
                <a:ext uri="{FF2B5EF4-FFF2-40B4-BE49-F238E27FC236}">
                  <a16:creationId xmlns:a16="http://schemas.microsoft.com/office/drawing/2014/main" id="{7DE92406-3F65-4333-BAAA-A9A7B5AEE9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1">
              <a:extLst>
                <a:ext uri="{FF2B5EF4-FFF2-40B4-BE49-F238E27FC236}">
                  <a16:creationId xmlns:a16="http://schemas.microsoft.com/office/drawing/2014/main" id="{B8B0FFC4-D1BB-4BB9-A224-BB78BFD3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D18B083-988B-AAF5-987F-277635D85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787" y="204998"/>
            <a:ext cx="9906000" cy="1117073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Data Ingestion Deliverables (April 8)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4603E3-78FF-871B-60DB-313EDAE2EA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4188" y="1382713"/>
            <a:ext cx="9840911" cy="3541714"/>
          </a:xfrm>
        </p:spPr>
        <p:txBody>
          <a:bodyPr anchor="t">
            <a:noAutofit/>
          </a:bodyPr>
          <a:lstStyle/>
          <a:p>
            <a:r>
              <a:rPr lang="en-US" dirty="0">
                <a:latin typeface="Aptos Display" panose="020B0004020202020204" pitchFamily="34" charset="0"/>
              </a:rPr>
              <a:t>Goal is to ensure documentation and reproducibility of what you did</a:t>
            </a:r>
          </a:p>
          <a:p>
            <a:r>
              <a:rPr lang="en-US" dirty="0">
                <a:latin typeface="Aptos Display" panose="020B0004020202020204" pitchFamily="34" charset="0"/>
              </a:rPr>
              <a:t>Code</a:t>
            </a:r>
          </a:p>
          <a:p>
            <a:pPr lvl="1"/>
            <a:r>
              <a:rPr lang="en-US" dirty="0">
                <a:latin typeface="Aptos Display" panose="020B0004020202020204" pitchFamily="34" charset="0"/>
              </a:rPr>
              <a:t>In good shape, well-commented, readable</a:t>
            </a:r>
          </a:p>
          <a:p>
            <a:pPr lvl="1"/>
            <a:r>
              <a:rPr lang="en-US" dirty="0">
                <a:latin typeface="Aptos Display" panose="020B0004020202020204" pitchFamily="34" charset="0"/>
              </a:rPr>
              <a:t>Can be R markdown or notebook, </a:t>
            </a:r>
            <a:r>
              <a:rPr lang="en-US" dirty="0" err="1">
                <a:latin typeface="Aptos Display" panose="020B0004020202020204" pitchFamily="34" charset="0"/>
              </a:rPr>
              <a:t>Jupyter</a:t>
            </a:r>
            <a:r>
              <a:rPr lang="en-US" dirty="0">
                <a:latin typeface="Aptos Display" panose="020B0004020202020204" pitchFamily="34" charset="0"/>
              </a:rPr>
              <a:t> notebooks, scripts, etc.</a:t>
            </a:r>
          </a:p>
          <a:p>
            <a:r>
              <a:rPr lang="en-US" dirty="0">
                <a:latin typeface="Aptos Display" panose="020B0004020202020204" pitchFamily="34" charset="0"/>
              </a:rPr>
              <a:t>Another software that doesn’t save processes the way code does</a:t>
            </a:r>
          </a:p>
          <a:p>
            <a:pPr lvl="1"/>
            <a:r>
              <a:rPr lang="en-US" dirty="0">
                <a:latin typeface="Aptos Display" panose="020B0004020202020204" pitchFamily="34" charset="0"/>
              </a:rPr>
              <a:t>Document what you did and how in a separate document</a:t>
            </a:r>
          </a:p>
          <a:p>
            <a:r>
              <a:rPr lang="en-US" dirty="0">
                <a:latin typeface="Aptos Display" panose="020B0004020202020204" pitchFamily="34" charset="0"/>
              </a:rPr>
              <a:t>Deliverables: </a:t>
            </a:r>
          </a:p>
          <a:p>
            <a:pPr lvl="1"/>
            <a:r>
              <a:rPr lang="en-US" dirty="0">
                <a:latin typeface="Aptos Display" panose="020B0004020202020204" pitchFamily="34" charset="0"/>
              </a:rPr>
              <a:t>Code and/or software documentation</a:t>
            </a:r>
          </a:p>
          <a:p>
            <a:pPr lvl="1"/>
            <a:r>
              <a:rPr lang="en-US" dirty="0">
                <a:latin typeface="Aptos Display" panose="020B0004020202020204" pitchFamily="34" charset="0"/>
              </a:rPr>
              <a:t>Uploaded to your project repository on GitHub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8DB4BB99-C854-45F9-BED1-63D15E3A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64912" y="0"/>
            <a:ext cx="674688" cy="6848476"/>
            <a:chOff x="11364912" y="0"/>
            <a:chExt cx="674688" cy="6848476"/>
          </a:xfrm>
          <a:solidFill>
            <a:schemeClr val="tx2">
              <a:alpha val="45000"/>
            </a:schemeClr>
          </a:solidFill>
        </p:grpSpPr>
        <p:sp>
          <p:nvSpPr>
            <p:cNvPr id="42" name="Freeform 32">
              <a:extLst>
                <a:ext uri="{FF2B5EF4-FFF2-40B4-BE49-F238E27FC236}">
                  <a16:creationId xmlns:a16="http://schemas.microsoft.com/office/drawing/2014/main" id="{5D1CCC4C-284C-4BF6-97D9-D974674634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3">
              <a:extLst>
                <a:ext uri="{FF2B5EF4-FFF2-40B4-BE49-F238E27FC236}">
                  <a16:creationId xmlns:a16="http://schemas.microsoft.com/office/drawing/2014/main" id="{35D82D1B-EB09-4028-9107-D60B547C7B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4">
              <a:extLst>
                <a:ext uri="{FF2B5EF4-FFF2-40B4-BE49-F238E27FC236}">
                  <a16:creationId xmlns:a16="http://schemas.microsoft.com/office/drawing/2014/main" id="{1389EE93-8059-437E-8507-7557AD68FB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5">
              <a:extLst>
                <a:ext uri="{FF2B5EF4-FFF2-40B4-BE49-F238E27FC236}">
                  <a16:creationId xmlns:a16="http://schemas.microsoft.com/office/drawing/2014/main" id="{377C05DC-75FF-4426-A34F-DBF0C7E7BE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36">
              <a:extLst>
                <a:ext uri="{FF2B5EF4-FFF2-40B4-BE49-F238E27FC236}">
                  <a16:creationId xmlns:a16="http://schemas.microsoft.com/office/drawing/2014/main" id="{03D385C8-866D-437D-91B1-2E3ECDD88E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37">
              <a:extLst>
                <a:ext uri="{FF2B5EF4-FFF2-40B4-BE49-F238E27FC236}">
                  <a16:creationId xmlns:a16="http://schemas.microsoft.com/office/drawing/2014/main" id="{3F649CBB-748F-4C79-A14F-C531C40B08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38">
              <a:extLst>
                <a:ext uri="{FF2B5EF4-FFF2-40B4-BE49-F238E27FC236}">
                  <a16:creationId xmlns:a16="http://schemas.microsoft.com/office/drawing/2014/main" id="{7F4622C0-84AF-41F1-9128-FE73CADD36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39">
              <a:extLst>
                <a:ext uri="{FF2B5EF4-FFF2-40B4-BE49-F238E27FC236}">
                  <a16:creationId xmlns:a16="http://schemas.microsoft.com/office/drawing/2014/main" id="{CC6F29C1-A471-4CDE-8C21-E4B15C5EF4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0">
              <a:extLst>
                <a:ext uri="{FF2B5EF4-FFF2-40B4-BE49-F238E27FC236}">
                  <a16:creationId xmlns:a16="http://schemas.microsoft.com/office/drawing/2014/main" id="{67F5B7DA-86C7-4AE0-96B6-D7F5AA51E2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Rectangle 41">
              <a:extLst>
                <a:ext uri="{FF2B5EF4-FFF2-40B4-BE49-F238E27FC236}">
                  <a16:creationId xmlns:a16="http://schemas.microsoft.com/office/drawing/2014/main" id="{0FA481E3-0439-484A-AC9B-19D58B98E4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160754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9B448F0-DA06-4165-AB5F-4330A20E0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-1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92D83638-A467-411A-9C31-FE9A111CD8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2576BCDF-119F-4EB5-83D7-ED823C93E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solidFill>
            <a:schemeClr val="tx2">
              <a:alpha val="45000"/>
            </a:schemeClr>
          </a:solidFill>
        </p:grpSpPr>
        <p:sp>
          <p:nvSpPr>
            <p:cNvPr id="13" name="Rectangle 5">
              <a:extLst>
                <a:ext uri="{FF2B5EF4-FFF2-40B4-BE49-F238E27FC236}">
                  <a16:creationId xmlns:a16="http://schemas.microsoft.com/office/drawing/2014/main" id="{43D63E8F-FD8A-4CE3-B7C9-3E9E2B66B5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D107D890-1831-46D8-90FB-F2FC0B2884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02440904-A4EC-4F72-8E22-AAF4D9DB5C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625E9C1F-1569-416B-A85C-FA14348722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3A186C77-43BF-4B1B-8170-48944F3057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FA8D72C1-8526-44B4-9333-5E0057ECC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790E4BA0-9C47-48B6-AA4A-8FC22DA954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2">
              <a:extLst>
                <a:ext uri="{FF2B5EF4-FFF2-40B4-BE49-F238E27FC236}">
                  <a16:creationId xmlns:a16="http://schemas.microsoft.com/office/drawing/2014/main" id="{FD051475-431F-4B9D-94C6-7B49A69582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3">
              <a:extLst>
                <a:ext uri="{FF2B5EF4-FFF2-40B4-BE49-F238E27FC236}">
                  <a16:creationId xmlns:a16="http://schemas.microsoft.com/office/drawing/2014/main" id="{82255D2F-85A1-4A19-8BC4-EB2715F36C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4">
              <a:extLst>
                <a:ext uri="{FF2B5EF4-FFF2-40B4-BE49-F238E27FC236}">
                  <a16:creationId xmlns:a16="http://schemas.microsoft.com/office/drawing/2014/main" id="{EBC3A004-9794-4EFA-83F0-989248797C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5">
              <a:extLst>
                <a:ext uri="{FF2B5EF4-FFF2-40B4-BE49-F238E27FC236}">
                  <a16:creationId xmlns:a16="http://schemas.microsoft.com/office/drawing/2014/main" id="{6EFD9FC3-E11A-44E3-BCAC-A07F3C601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Line 16">
              <a:extLst>
                <a:ext uri="{FF2B5EF4-FFF2-40B4-BE49-F238E27FC236}">
                  <a16:creationId xmlns:a16="http://schemas.microsoft.com/office/drawing/2014/main" id="{AB6AB6F7-6592-4028-B349-1C0E53A29C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7">
              <a:extLst>
                <a:ext uri="{FF2B5EF4-FFF2-40B4-BE49-F238E27FC236}">
                  <a16:creationId xmlns:a16="http://schemas.microsoft.com/office/drawing/2014/main" id="{6C2415E6-F914-4C11-B48B-4910AA6CA6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8">
              <a:extLst>
                <a:ext uri="{FF2B5EF4-FFF2-40B4-BE49-F238E27FC236}">
                  <a16:creationId xmlns:a16="http://schemas.microsoft.com/office/drawing/2014/main" id="{2412013C-072A-489E-851A-CFEF91A9A6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9">
              <a:extLst>
                <a:ext uri="{FF2B5EF4-FFF2-40B4-BE49-F238E27FC236}">
                  <a16:creationId xmlns:a16="http://schemas.microsoft.com/office/drawing/2014/main" id="{DE93DF9F-296F-4DE4-8813-D8C04DE4CF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0">
              <a:extLst>
                <a:ext uri="{FF2B5EF4-FFF2-40B4-BE49-F238E27FC236}">
                  <a16:creationId xmlns:a16="http://schemas.microsoft.com/office/drawing/2014/main" id="{F440D966-5030-460C-9916-BF9B915421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Rectangle 21">
              <a:extLst>
                <a:ext uri="{FF2B5EF4-FFF2-40B4-BE49-F238E27FC236}">
                  <a16:creationId xmlns:a16="http://schemas.microsoft.com/office/drawing/2014/main" id="{1EFE245D-BA05-4F4D-A6E8-40739F48E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2">
              <a:extLst>
                <a:ext uri="{FF2B5EF4-FFF2-40B4-BE49-F238E27FC236}">
                  <a16:creationId xmlns:a16="http://schemas.microsoft.com/office/drawing/2014/main" id="{ED67811C-F735-441C-98A6-2517EC099A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3">
              <a:extLst>
                <a:ext uri="{FF2B5EF4-FFF2-40B4-BE49-F238E27FC236}">
                  <a16:creationId xmlns:a16="http://schemas.microsoft.com/office/drawing/2014/main" id="{3070FC44-32F9-470F-A131-868F3F1DB7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4">
              <a:extLst>
                <a:ext uri="{FF2B5EF4-FFF2-40B4-BE49-F238E27FC236}">
                  <a16:creationId xmlns:a16="http://schemas.microsoft.com/office/drawing/2014/main" id="{95FB52C7-C779-4E3F-978C-4595FEF868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5">
              <a:extLst>
                <a:ext uri="{FF2B5EF4-FFF2-40B4-BE49-F238E27FC236}">
                  <a16:creationId xmlns:a16="http://schemas.microsoft.com/office/drawing/2014/main" id="{D4EB1759-62AC-4B24-9DC6-E4F8737E89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6">
              <a:extLst>
                <a:ext uri="{FF2B5EF4-FFF2-40B4-BE49-F238E27FC236}">
                  <a16:creationId xmlns:a16="http://schemas.microsoft.com/office/drawing/2014/main" id="{7BF6FB39-864B-4F58-86E8-790E16FB3C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7">
              <a:extLst>
                <a:ext uri="{FF2B5EF4-FFF2-40B4-BE49-F238E27FC236}">
                  <a16:creationId xmlns:a16="http://schemas.microsoft.com/office/drawing/2014/main" id="{5FE4FA46-B51C-43DA-87FC-2644ED117A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28">
              <a:extLst>
                <a:ext uri="{FF2B5EF4-FFF2-40B4-BE49-F238E27FC236}">
                  <a16:creationId xmlns:a16="http://schemas.microsoft.com/office/drawing/2014/main" id="{25DD1322-2D3A-4E7B-B23B-B4F96E02C2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29">
              <a:extLst>
                <a:ext uri="{FF2B5EF4-FFF2-40B4-BE49-F238E27FC236}">
                  <a16:creationId xmlns:a16="http://schemas.microsoft.com/office/drawing/2014/main" id="{6E4FFBEB-52BB-494D-AD99-A0F072AB6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0">
              <a:extLst>
                <a:ext uri="{FF2B5EF4-FFF2-40B4-BE49-F238E27FC236}">
                  <a16:creationId xmlns:a16="http://schemas.microsoft.com/office/drawing/2014/main" id="{7DE92406-3F65-4333-BAAA-A9A7B5AEE9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1">
              <a:extLst>
                <a:ext uri="{FF2B5EF4-FFF2-40B4-BE49-F238E27FC236}">
                  <a16:creationId xmlns:a16="http://schemas.microsoft.com/office/drawing/2014/main" id="{B8B0FFC4-D1BB-4BB9-A224-BB78BFD3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45C7ED1-75F0-9B6B-2139-E0B33215F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9989" y="161395"/>
            <a:ext cx="9906000" cy="1117073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EDA Expectations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DC4FE9-E2A3-E0C9-ABEE-59C00A9B64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8901" y="1223646"/>
            <a:ext cx="9840911" cy="5107304"/>
          </a:xfrm>
        </p:spPr>
        <p:txBody>
          <a:bodyPr anchor="t">
            <a:normAutofit fontScale="85000" lnSpcReduction="20000"/>
          </a:bodyPr>
          <a:lstStyle/>
          <a:p>
            <a:r>
              <a:rPr lang="en-US" sz="3400" dirty="0">
                <a:latin typeface="Aptos Display" panose="020B0004020202020204" pitchFamily="34" charset="0"/>
              </a:rPr>
              <a:t>Purpose:</a:t>
            </a:r>
          </a:p>
          <a:p>
            <a:pPr lvl="1"/>
            <a:r>
              <a:rPr lang="en-US" dirty="0">
                <a:latin typeface="Aptos Display" panose="020B0004020202020204" pitchFamily="34" charset="0"/>
              </a:rPr>
              <a:t>Uncover insights about and patterns in your data</a:t>
            </a:r>
          </a:p>
          <a:p>
            <a:pPr lvl="1"/>
            <a:r>
              <a:rPr lang="en-US" dirty="0">
                <a:latin typeface="Aptos Display" panose="020B0004020202020204" pitchFamily="34" charset="0"/>
              </a:rPr>
              <a:t>What do you want others to know about the data in your data set?</a:t>
            </a:r>
          </a:p>
          <a:p>
            <a:r>
              <a:rPr lang="en-US" sz="3400" dirty="0">
                <a:latin typeface="Aptos Display" panose="020B0004020202020204" pitchFamily="34" charset="0"/>
              </a:rPr>
              <a:t>Descriptive statistics:</a:t>
            </a:r>
          </a:p>
          <a:p>
            <a:pPr lvl="1"/>
            <a:r>
              <a:rPr lang="en-US" dirty="0">
                <a:latin typeface="Aptos Display" panose="020B0004020202020204" pitchFamily="34" charset="0"/>
              </a:rPr>
              <a:t>Appropriate for the variables types (numerical vs. categorial)</a:t>
            </a:r>
          </a:p>
          <a:p>
            <a:pPr lvl="2"/>
            <a:r>
              <a:rPr lang="en-US" dirty="0">
                <a:latin typeface="Aptos Display" panose="020B0004020202020204" pitchFamily="34" charset="0"/>
              </a:rPr>
              <a:t>Examples:</a:t>
            </a:r>
          </a:p>
          <a:p>
            <a:pPr lvl="1"/>
            <a:r>
              <a:rPr lang="en-US" dirty="0">
                <a:latin typeface="Aptos Display" panose="020B0004020202020204" pitchFamily="34" charset="0"/>
              </a:rPr>
              <a:t>Missing values: degree of missingness per variable, effects </a:t>
            </a:r>
          </a:p>
          <a:p>
            <a:r>
              <a:rPr lang="en-US" sz="3400" dirty="0">
                <a:latin typeface="Aptos Display" panose="020B0004020202020204" pitchFamily="34" charset="0"/>
              </a:rPr>
              <a:t>Visualizations:</a:t>
            </a:r>
          </a:p>
          <a:p>
            <a:pPr lvl="1"/>
            <a:r>
              <a:rPr lang="en-US" dirty="0">
                <a:latin typeface="Aptos Display" panose="020B0004020202020204" pitchFamily="34" charset="0"/>
              </a:rPr>
              <a:t>Appropriate for the variable types and the characteristics of your data</a:t>
            </a:r>
          </a:p>
          <a:p>
            <a:pPr lvl="2"/>
            <a:r>
              <a:rPr lang="en-US" dirty="0">
                <a:latin typeface="Aptos Display" panose="020B0004020202020204" pitchFamily="34" charset="0"/>
              </a:rPr>
              <a:t>Examples:</a:t>
            </a:r>
          </a:p>
          <a:p>
            <a:pPr lvl="1"/>
            <a:r>
              <a:rPr lang="en-US" dirty="0">
                <a:latin typeface="Aptos Display" panose="020B0004020202020204" pitchFamily="34" charset="0"/>
              </a:rPr>
              <a:t>Appropriate and accurate titles, axes labels</a:t>
            </a:r>
          </a:p>
          <a:p>
            <a:r>
              <a:rPr lang="en-US" sz="3400" dirty="0">
                <a:latin typeface="Aptos Display" panose="020B0004020202020204" pitchFamily="34" charset="0"/>
              </a:rPr>
              <a:t>Narrative text:</a:t>
            </a:r>
          </a:p>
          <a:p>
            <a:pPr lvl="1"/>
            <a:r>
              <a:rPr lang="en-US" dirty="0">
                <a:latin typeface="Aptos Display" panose="020B0004020202020204" pitchFamily="34" charset="0"/>
              </a:rPr>
              <a:t>Limited, as needed to provide explanation and context</a:t>
            </a:r>
          </a:p>
          <a:p>
            <a:pPr lvl="1"/>
            <a:endParaRPr lang="en-US" dirty="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8DB4BB99-C854-45F9-BED1-63D15E3A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64912" y="0"/>
            <a:ext cx="674688" cy="6848476"/>
            <a:chOff x="11364912" y="0"/>
            <a:chExt cx="674688" cy="6848476"/>
          </a:xfrm>
          <a:solidFill>
            <a:schemeClr val="tx2">
              <a:alpha val="45000"/>
            </a:schemeClr>
          </a:solidFill>
        </p:grpSpPr>
        <p:sp>
          <p:nvSpPr>
            <p:cNvPr id="42" name="Freeform 32">
              <a:extLst>
                <a:ext uri="{FF2B5EF4-FFF2-40B4-BE49-F238E27FC236}">
                  <a16:creationId xmlns:a16="http://schemas.microsoft.com/office/drawing/2014/main" id="{5D1CCC4C-284C-4BF6-97D9-D974674634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3">
              <a:extLst>
                <a:ext uri="{FF2B5EF4-FFF2-40B4-BE49-F238E27FC236}">
                  <a16:creationId xmlns:a16="http://schemas.microsoft.com/office/drawing/2014/main" id="{35D82D1B-EB09-4028-9107-D60B547C7B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4">
              <a:extLst>
                <a:ext uri="{FF2B5EF4-FFF2-40B4-BE49-F238E27FC236}">
                  <a16:creationId xmlns:a16="http://schemas.microsoft.com/office/drawing/2014/main" id="{1389EE93-8059-437E-8507-7557AD68FB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5">
              <a:extLst>
                <a:ext uri="{FF2B5EF4-FFF2-40B4-BE49-F238E27FC236}">
                  <a16:creationId xmlns:a16="http://schemas.microsoft.com/office/drawing/2014/main" id="{377C05DC-75FF-4426-A34F-DBF0C7E7BE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36">
              <a:extLst>
                <a:ext uri="{FF2B5EF4-FFF2-40B4-BE49-F238E27FC236}">
                  <a16:creationId xmlns:a16="http://schemas.microsoft.com/office/drawing/2014/main" id="{03D385C8-866D-437D-91B1-2E3ECDD88E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37">
              <a:extLst>
                <a:ext uri="{FF2B5EF4-FFF2-40B4-BE49-F238E27FC236}">
                  <a16:creationId xmlns:a16="http://schemas.microsoft.com/office/drawing/2014/main" id="{3F649CBB-748F-4C79-A14F-C531C40B08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38">
              <a:extLst>
                <a:ext uri="{FF2B5EF4-FFF2-40B4-BE49-F238E27FC236}">
                  <a16:creationId xmlns:a16="http://schemas.microsoft.com/office/drawing/2014/main" id="{7F4622C0-84AF-41F1-9128-FE73CADD36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39">
              <a:extLst>
                <a:ext uri="{FF2B5EF4-FFF2-40B4-BE49-F238E27FC236}">
                  <a16:creationId xmlns:a16="http://schemas.microsoft.com/office/drawing/2014/main" id="{CC6F29C1-A471-4CDE-8C21-E4B15C5EF4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0">
              <a:extLst>
                <a:ext uri="{FF2B5EF4-FFF2-40B4-BE49-F238E27FC236}">
                  <a16:creationId xmlns:a16="http://schemas.microsoft.com/office/drawing/2014/main" id="{67F5B7DA-86C7-4AE0-96B6-D7F5AA51E2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Rectangle 41">
              <a:extLst>
                <a:ext uri="{FF2B5EF4-FFF2-40B4-BE49-F238E27FC236}">
                  <a16:creationId xmlns:a16="http://schemas.microsoft.com/office/drawing/2014/main" id="{0FA481E3-0439-484A-AC9B-19D58B98E4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853670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9B448F0-DA06-4165-AB5F-4330A20E0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-1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92D83638-A467-411A-9C31-FE9A111CD8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2576BCDF-119F-4EB5-83D7-ED823C93E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solidFill>
            <a:schemeClr val="tx2">
              <a:alpha val="45000"/>
            </a:schemeClr>
          </a:solidFill>
        </p:grpSpPr>
        <p:sp>
          <p:nvSpPr>
            <p:cNvPr id="13" name="Rectangle 5">
              <a:extLst>
                <a:ext uri="{FF2B5EF4-FFF2-40B4-BE49-F238E27FC236}">
                  <a16:creationId xmlns:a16="http://schemas.microsoft.com/office/drawing/2014/main" id="{43D63E8F-FD8A-4CE3-B7C9-3E9E2B66B5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D107D890-1831-46D8-90FB-F2FC0B2884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02440904-A4EC-4F72-8E22-AAF4D9DB5C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625E9C1F-1569-416B-A85C-FA14348722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3A186C77-43BF-4B1B-8170-48944F3057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FA8D72C1-8526-44B4-9333-5E0057ECC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790E4BA0-9C47-48B6-AA4A-8FC22DA954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20" name="Freeform 12">
              <a:extLst>
                <a:ext uri="{FF2B5EF4-FFF2-40B4-BE49-F238E27FC236}">
                  <a16:creationId xmlns:a16="http://schemas.microsoft.com/office/drawing/2014/main" id="{FD051475-431F-4B9D-94C6-7B49A69582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21" name="Freeform 13">
              <a:extLst>
                <a:ext uri="{FF2B5EF4-FFF2-40B4-BE49-F238E27FC236}">
                  <a16:creationId xmlns:a16="http://schemas.microsoft.com/office/drawing/2014/main" id="{82255D2F-85A1-4A19-8BC4-EB2715F36C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22" name="Freeform 14">
              <a:extLst>
                <a:ext uri="{FF2B5EF4-FFF2-40B4-BE49-F238E27FC236}">
                  <a16:creationId xmlns:a16="http://schemas.microsoft.com/office/drawing/2014/main" id="{EBC3A004-9794-4EFA-83F0-989248797C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23" name="Freeform 15">
              <a:extLst>
                <a:ext uri="{FF2B5EF4-FFF2-40B4-BE49-F238E27FC236}">
                  <a16:creationId xmlns:a16="http://schemas.microsoft.com/office/drawing/2014/main" id="{6EFD9FC3-E11A-44E3-BCAC-A07F3C601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24" name="Line 16">
              <a:extLst>
                <a:ext uri="{FF2B5EF4-FFF2-40B4-BE49-F238E27FC236}">
                  <a16:creationId xmlns:a16="http://schemas.microsoft.com/office/drawing/2014/main" id="{AB6AB6F7-6592-4028-B349-1C0E53A29C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25" name="Freeform 17">
              <a:extLst>
                <a:ext uri="{FF2B5EF4-FFF2-40B4-BE49-F238E27FC236}">
                  <a16:creationId xmlns:a16="http://schemas.microsoft.com/office/drawing/2014/main" id="{6C2415E6-F914-4C11-B48B-4910AA6CA6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26" name="Freeform 18">
              <a:extLst>
                <a:ext uri="{FF2B5EF4-FFF2-40B4-BE49-F238E27FC236}">
                  <a16:creationId xmlns:a16="http://schemas.microsoft.com/office/drawing/2014/main" id="{2412013C-072A-489E-851A-CFEF91A9A6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27" name="Freeform 19">
              <a:extLst>
                <a:ext uri="{FF2B5EF4-FFF2-40B4-BE49-F238E27FC236}">
                  <a16:creationId xmlns:a16="http://schemas.microsoft.com/office/drawing/2014/main" id="{DE93DF9F-296F-4DE4-8813-D8C04DE4CF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28" name="Freeform 20">
              <a:extLst>
                <a:ext uri="{FF2B5EF4-FFF2-40B4-BE49-F238E27FC236}">
                  <a16:creationId xmlns:a16="http://schemas.microsoft.com/office/drawing/2014/main" id="{F440D966-5030-460C-9916-BF9B915421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29" name="Rectangle 21">
              <a:extLst>
                <a:ext uri="{FF2B5EF4-FFF2-40B4-BE49-F238E27FC236}">
                  <a16:creationId xmlns:a16="http://schemas.microsoft.com/office/drawing/2014/main" id="{1EFE245D-BA05-4F4D-A6E8-40739F48E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30" name="Freeform 22">
              <a:extLst>
                <a:ext uri="{FF2B5EF4-FFF2-40B4-BE49-F238E27FC236}">
                  <a16:creationId xmlns:a16="http://schemas.microsoft.com/office/drawing/2014/main" id="{ED67811C-F735-441C-98A6-2517EC099A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31" name="Freeform 23">
              <a:extLst>
                <a:ext uri="{FF2B5EF4-FFF2-40B4-BE49-F238E27FC236}">
                  <a16:creationId xmlns:a16="http://schemas.microsoft.com/office/drawing/2014/main" id="{3070FC44-32F9-470F-A131-868F3F1DB7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32" name="Freeform 24">
              <a:extLst>
                <a:ext uri="{FF2B5EF4-FFF2-40B4-BE49-F238E27FC236}">
                  <a16:creationId xmlns:a16="http://schemas.microsoft.com/office/drawing/2014/main" id="{95FB52C7-C779-4E3F-978C-4595FEF868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33" name="Freeform 25">
              <a:extLst>
                <a:ext uri="{FF2B5EF4-FFF2-40B4-BE49-F238E27FC236}">
                  <a16:creationId xmlns:a16="http://schemas.microsoft.com/office/drawing/2014/main" id="{D4EB1759-62AC-4B24-9DC6-E4F8737E89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34" name="Freeform 26">
              <a:extLst>
                <a:ext uri="{FF2B5EF4-FFF2-40B4-BE49-F238E27FC236}">
                  <a16:creationId xmlns:a16="http://schemas.microsoft.com/office/drawing/2014/main" id="{7BF6FB39-864B-4F58-86E8-790E16FB3C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35" name="Freeform 27">
              <a:extLst>
                <a:ext uri="{FF2B5EF4-FFF2-40B4-BE49-F238E27FC236}">
                  <a16:creationId xmlns:a16="http://schemas.microsoft.com/office/drawing/2014/main" id="{5FE4FA46-B51C-43DA-87FC-2644ED117A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36" name="Freeform 28">
              <a:extLst>
                <a:ext uri="{FF2B5EF4-FFF2-40B4-BE49-F238E27FC236}">
                  <a16:creationId xmlns:a16="http://schemas.microsoft.com/office/drawing/2014/main" id="{25DD1322-2D3A-4E7B-B23B-B4F96E02C2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37" name="Freeform 29">
              <a:extLst>
                <a:ext uri="{FF2B5EF4-FFF2-40B4-BE49-F238E27FC236}">
                  <a16:creationId xmlns:a16="http://schemas.microsoft.com/office/drawing/2014/main" id="{6E4FFBEB-52BB-494D-AD99-A0F072AB6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38" name="Freeform 30">
              <a:extLst>
                <a:ext uri="{FF2B5EF4-FFF2-40B4-BE49-F238E27FC236}">
                  <a16:creationId xmlns:a16="http://schemas.microsoft.com/office/drawing/2014/main" id="{7DE92406-3F65-4333-BAAA-A9A7B5AEE9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39" name="Freeform 31">
              <a:extLst>
                <a:ext uri="{FF2B5EF4-FFF2-40B4-BE49-F238E27FC236}">
                  <a16:creationId xmlns:a16="http://schemas.microsoft.com/office/drawing/2014/main" id="{B8B0FFC4-D1BB-4BB9-A224-BB78BFD3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45C7ED1-75F0-9B6B-2139-E0B33215F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6025" y="247120"/>
            <a:ext cx="9906000" cy="1117073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EDA Deliverables (April 8)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DC4FE9-E2A3-E0C9-ABEE-59C00A9B64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6500" y="1611313"/>
            <a:ext cx="9840911" cy="4179888"/>
          </a:xfrm>
        </p:spPr>
        <p:txBody>
          <a:bodyPr numCol="1" anchor="t">
            <a:normAutofit fontScale="70000" lnSpcReduction="20000"/>
          </a:bodyPr>
          <a:lstStyle/>
          <a:p>
            <a:r>
              <a:rPr lang="en-US" sz="3100" dirty="0">
                <a:latin typeface="Aptos Display" panose="020B0004020202020204" pitchFamily="34" charset="0"/>
              </a:rPr>
              <a:t>Goal is clear, readable documentation of what you did and what you found</a:t>
            </a:r>
          </a:p>
          <a:p>
            <a:r>
              <a:rPr lang="en-US" sz="3100" dirty="0">
                <a:latin typeface="Aptos Display" panose="020B0004020202020204" pitchFamily="34" charset="0"/>
              </a:rPr>
              <a:t>Code in your language(s) of choice </a:t>
            </a:r>
          </a:p>
          <a:p>
            <a:pPr lvl="1"/>
            <a:r>
              <a:rPr lang="en-US" dirty="0">
                <a:latin typeface="Aptos Display" panose="020B0004020202020204" pitchFamily="34" charset="0"/>
              </a:rPr>
              <a:t>In good shape, well-commented, readable</a:t>
            </a:r>
          </a:p>
          <a:p>
            <a:pPr lvl="1"/>
            <a:r>
              <a:rPr lang="en-US" dirty="0">
                <a:latin typeface="Aptos Display" panose="020B0004020202020204" pitchFamily="34" charset="0"/>
              </a:rPr>
              <a:t>Be in a format that incorporates code, visualization, and narrative text (e.g., R Markdown, </a:t>
            </a:r>
            <a:r>
              <a:rPr lang="en-US" dirty="0" err="1">
                <a:latin typeface="Aptos Display" panose="020B0004020202020204" pitchFamily="34" charset="0"/>
              </a:rPr>
              <a:t>Jupyter</a:t>
            </a:r>
            <a:r>
              <a:rPr lang="en-US" dirty="0">
                <a:latin typeface="Aptos Display" panose="020B0004020202020204" pitchFamily="34" charset="0"/>
              </a:rPr>
              <a:t> Notebook)</a:t>
            </a:r>
          </a:p>
          <a:p>
            <a:r>
              <a:rPr lang="en-US" sz="3100" dirty="0">
                <a:latin typeface="Aptos Display" panose="020B0004020202020204" pitchFamily="34" charset="0"/>
              </a:rPr>
              <a:t>Another software that doesn’t save processes the way that code does:</a:t>
            </a:r>
          </a:p>
          <a:p>
            <a:pPr lvl="1"/>
            <a:r>
              <a:rPr lang="en-US" dirty="0">
                <a:latin typeface="Aptos Display" panose="020B0004020202020204" pitchFamily="34" charset="0"/>
              </a:rPr>
              <a:t>Create a dashboard which includes text and visualization, and a document which describes what you did</a:t>
            </a:r>
          </a:p>
          <a:p>
            <a:pPr lvl="1"/>
            <a:r>
              <a:rPr lang="en-US" dirty="0">
                <a:latin typeface="Aptos Display" panose="020B0004020202020204" pitchFamily="34" charset="0"/>
              </a:rPr>
              <a:t>Create a document which includes code (if desired), text, visualizations and which describes what you did</a:t>
            </a:r>
          </a:p>
          <a:p>
            <a:r>
              <a:rPr lang="en-US" sz="3100" dirty="0">
                <a:latin typeface="Aptos Display" panose="020B0004020202020204" pitchFamily="34" charset="0"/>
              </a:rPr>
              <a:t>Deliverables: </a:t>
            </a:r>
          </a:p>
          <a:p>
            <a:pPr lvl="1"/>
            <a:r>
              <a:rPr lang="en-US" sz="2600" dirty="0">
                <a:latin typeface="Aptos Display" panose="020B0004020202020204" pitchFamily="34" charset="0"/>
              </a:rPr>
              <a:t>Code, dashboard, and/or software documentation</a:t>
            </a:r>
          </a:p>
          <a:p>
            <a:pPr lvl="1"/>
            <a:r>
              <a:rPr lang="en-US" sz="2600" dirty="0">
                <a:latin typeface="Aptos Display" panose="020B0004020202020204" pitchFamily="34" charset="0"/>
              </a:rPr>
              <a:t>Uploaded to your project repository on GitHub</a:t>
            </a:r>
          </a:p>
          <a:p>
            <a:pPr lvl="2"/>
            <a:r>
              <a:rPr lang="en-US" sz="2600" dirty="0">
                <a:latin typeface="Aptos Display" panose="020B0004020202020204" pitchFamily="34" charset="0"/>
              </a:rPr>
              <a:t>Dashboards should be linked from your project repository page</a:t>
            </a:r>
          </a:p>
          <a:p>
            <a:endParaRPr lang="en-US" dirty="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8DB4BB99-C854-45F9-BED1-63D15E3A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64912" y="0"/>
            <a:ext cx="674688" cy="6848476"/>
            <a:chOff x="11364912" y="0"/>
            <a:chExt cx="674688" cy="6848476"/>
          </a:xfrm>
          <a:solidFill>
            <a:schemeClr val="tx2">
              <a:alpha val="45000"/>
            </a:schemeClr>
          </a:solidFill>
        </p:grpSpPr>
        <p:sp>
          <p:nvSpPr>
            <p:cNvPr id="42" name="Freeform 32">
              <a:extLst>
                <a:ext uri="{FF2B5EF4-FFF2-40B4-BE49-F238E27FC236}">
                  <a16:creationId xmlns:a16="http://schemas.microsoft.com/office/drawing/2014/main" id="{5D1CCC4C-284C-4BF6-97D9-D974674634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43" name="Freeform 33">
              <a:extLst>
                <a:ext uri="{FF2B5EF4-FFF2-40B4-BE49-F238E27FC236}">
                  <a16:creationId xmlns:a16="http://schemas.microsoft.com/office/drawing/2014/main" id="{35D82D1B-EB09-4028-9107-D60B547C7B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44" name="Freeform 34">
              <a:extLst>
                <a:ext uri="{FF2B5EF4-FFF2-40B4-BE49-F238E27FC236}">
                  <a16:creationId xmlns:a16="http://schemas.microsoft.com/office/drawing/2014/main" id="{1389EE93-8059-437E-8507-7557AD68FB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45" name="Freeform 35">
              <a:extLst>
                <a:ext uri="{FF2B5EF4-FFF2-40B4-BE49-F238E27FC236}">
                  <a16:creationId xmlns:a16="http://schemas.microsoft.com/office/drawing/2014/main" id="{377C05DC-75FF-4426-A34F-DBF0C7E7BE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46" name="Freeform 36">
              <a:extLst>
                <a:ext uri="{FF2B5EF4-FFF2-40B4-BE49-F238E27FC236}">
                  <a16:creationId xmlns:a16="http://schemas.microsoft.com/office/drawing/2014/main" id="{03D385C8-866D-437D-91B1-2E3ECDD88E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47" name="Freeform 37">
              <a:extLst>
                <a:ext uri="{FF2B5EF4-FFF2-40B4-BE49-F238E27FC236}">
                  <a16:creationId xmlns:a16="http://schemas.microsoft.com/office/drawing/2014/main" id="{3F649CBB-748F-4C79-A14F-C531C40B08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48" name="Freeform 38">
              <a:extLst>
                <a:ext uri="{FF2B5EF4-FFF2-40B4-BE49-F238E27FC236}">
                  <a16:creationId xmlns:a16="http://schemas.microsoft.com/office/drawing/2014/main" id="{7F4622C0-84AF-41F1-9128-FE73CADD36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49" name="Freeform 39">
              <a:extLst>
                <a:ext uri="{FF2B5EF4-FFF2-40B4-BE49-F238E27FC236}">
                  <a16:creationId xmlns:a16="http://schemas.microsoft.com/office/drawing/2014/main" id="{CC6F29C1-A471-4CDE-8C21-E4B15C5EF4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50" name="Freeform 40">
              <a:extLst>
                <a:ext uri="{FF2B5EF4-FFF2-40B4-BE49-F238E27FC236}">
                  <a16:creationId xmlns:a16="http://schemas.microsoft.com/office/drawing/2014/main" id="{67F5B7DA-86C7-4AE0-96B6-D7F5AA51E2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51" name="Rectangle 41">
              <a:extLst>
                <a:ext uri="{FF2B5EF4-FFF2-40B4-BE49-F238E27FC236}">
                  <a16:creationId xmlns:a16="http://schemas.microsoft.com/office/drawing/2014/main" id="{0FA481E3-0439-484A-AC9B-19D58B98E4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087897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34100</TotalTime>
  <Words>770</Words>
  <Application>Microsoft Office PowerPoint</Application>
  <PresentationFormat>Widescreen</PresentationFormat>
  <Paragraphs>78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Tw Cen MT</vt:lpstr>
      <vt:lpstr>Circuit</vt:lpstr>
      <vt:lpstr>DATA 205 Week 9:  Expectations for EDA and Data Ingestions; Elevator Pitches</vt:lpstr>
      <vt:lpstr>Elevator Pitch – DuE April 3</vt:lpstr>
      <vt:lpstr>PowerPoint Presentation</vt:lpstr>
      <vt:lpstr>Follow the elevator pitch instructions</vt:lpstr>
      <vt:lpstr>Data Ingestion Expectations (1)</vt:lpstr>
      <vt:lpstr>Data Ingestion Expectations (2)</vt:lpstr>
      <vt:lpstr>Data Ingestion Deliverables (April 8)</vt:lpstr>
      <vt:lpstr>EDA Expectations</vt:lpstr>
      <vt:lpstr>EDA Deliverables (April 8)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205 Week 9:  Expectations for EDA and Data Ingestions; Elevator Pitches</dc:title>
  <dc:creator>Jane Valentine</dc:creator>
  <cp:lastModifiedBy>Perine, Lori A</cp:lastModifiedBy>
  <cp:revision>29</cp:revision>
  <dcterms:created xsi:type="dcterms:W3CDTF">2024-09-11T10:18:15Z</dcterms:created>
  <dcterms:modified xsi:type="dcterms:W3CDTF">2026-04-01T16:23:07Z</dcterms:modified>
</cp:coreProperties>
</file>